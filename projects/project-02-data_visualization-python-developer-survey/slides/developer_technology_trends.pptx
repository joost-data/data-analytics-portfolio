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77" r:id="rId12"/>
    <p:sldId id="265" r:id="rId13"/>
    <p:sldId id="266" r:id="rId14"/>
    <p:sldId id="267" r:id="rId15"/>
    <p:sldId id="268" r:id="rId16"/>
    <p:sldId id="269" r:id="rId17"/>
    <p:sldId id="276" r:id="rId18"/>
    <p:sldId id="271" r:id="rId19"/>
    <p:sldId id="272" r:id="rId20"/>
  </p:sldIdLst>
  <p:sldSz cx="12192000" cy="6858000"/>
  <p:notesSz cx="6858000" cy="1857375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16" autoAdjust="0"/>
    <p:restoredTop sz="91469" autoAdjust="0"/>
  </p:normalViewPr>
  <p:slideViewPr>
    <p:cSldViewPr snapToGrid="0">
      <p:cViewPr varScale="1">
        <p:scale>
          <a:sx n="128" d="100"/>
          <a:sy n="128" d="100"/>
        </p:scale>
        <p:origin x="1880" y="47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5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3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2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" y="1244600"/>
            <a:ext cx="6319520" cy="2184400"/>
          </a:xfrm>
          <a:noFill/>
        </p:spPr>
        <p:txBody>
          <a:bodyPr>
            <a:normAutofit/>
          </a:bodyPr>
          <a:lstStyle/>
          <a:p>
            <a:r>
              <a:rPr lang="en-US" sz="4000" dirty="0"/>
              <a:t>Technology Trends and Developer Demographics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3429000"/>
            <a:ext cx="6319520" cy="1655762"/>
          </a:xfrm>
          <a:noFill/>
        </p:spPr>
        <p:txBody>
          <a:bodyPr/>
          <a:lstStyle/>
          <a:p>
            <a:endParaRPr lang="en-US" dirty="0"/>
          </a:p>
          <a:p>
            <a:r>
              <a:rPr lang="en-US" dirty="0"/>
              <a:t>Stack Overflow Developer Survey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B27E806-9356-B422-D668-121F45474690}"/>
              </a:ext>
            </a:extLst>
          </p:cNvPr>
          <p:cNvSpPr txBox="1">
            <a:spLocks/>
          </p:cNvSpPr>
          <p:nvPr/>
        </p:nvSpPr>
        <p:spPr>
          <a:xfrm>
            <a:off x="8032749" y="6282318"/>
            <a:ext cx="3098800" cy="660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0" i="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Prepared by: Joost </a:t>
            </a:r>
            <a:r>
              <a:rPr lang="en-US" sz="1400" dirty="0" err="1"/>
              <a:t>Kinnaer</a:t>
            </a:r>
            <a:br>
              <a:rPr lang="en-US" sz="1400" dirty="0"/>
            </a:br>
            <a:r>
              <a:rPr lang="en-US" sz="1400" dirty="0"/>
              <a:t>Date: 23-01-2026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dirty="0"/>
              <a:t>OUTLINE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 and Objectives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Programming Language Trends</a:t>
            </a:r>
          </a:p>
          <a:p>
            <a:r>
              <a:rPr lang="en-US" sz="2200" dirty="0"/>
              <a:t>Database Trends</a:t>
            </a:r>
          </a:p>
          <a:p>
            <a:r>
              <a:rPr lang="en-US" sz="2200" dirty="0"/>
              <a:t>Dashboard Analysis</a:t>
            </a:r>
          </a:p>
          <a:p>
            <a:r>
              <a:rPr lang="en-US" sz="2200" dirty="0"/>
              <a:t>Key Insights and Implications</a:t>
            </a:r>
          </a:p>
          <a:p>
            <a:r>
              <a:rPr lang="en-US" sz="2200" dirty="0"/>
              <a:t>Conclusion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9688240" y="2899184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98240" y="2719184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Programming language usage concentrates</a:t>
            </a:r>
            <a:r>
              <a:rPr lang="en-GB" sz="2000" dirty="0"/>
              <a:t> around a small set of dominant programming languages.</a:t>
            </a:r>
          </a:p>
          <a:p>
            <a:r>
              <a:rPr lang="en-GB" sz="2000" b="1" dirty="0"/>
              <a:t>Future preferences mirror today</a:t>
            </a:r>
            <a:r>
              <a:rPr lang="en-GB" sz="2000" dirty="0"/>
              <a:t>, with only limited but visible movement toward newer alternatives.</a:t>
            </a:r>
          </a:p>
          <a:p>
            <a:r>
              <a:rPr lang="en-GB" sz="2000" b="1" dirty="0"/>
              <a:t>Databases remain relational</a:t>
            </a:r>
            <a:r>
              <a:rPr lang="en-GB" sz="2000" dirty="0"/>
              <a:t>, while interest in cloud-native and NoSQL options is steadily increasing.</a:t>
            </a:r>
          </a:p>
          <a:p>
            <a:r>
              <a:rPr lang="en-GB" sz="2000" b="1" dirty="0"/>
              <a:t>Adoption patterns differ</a:t>
            </a:r>
            <a:r>
              <a:rPr lang="en-GB" sz="2000" dirty="0"/>
              <a:t> by age, region, and education level.</a:t>
            </a:r>
          </a:p>
          <a:p>
            <a:r>
              <a:rPr lang="en-GB" sz="2000" b="1" dirty="0"/>
              <a:t>The dashboard brings together</a:t>
            </a:r>
            <a:r>
              <a:rPr lang="en-GB" sz="2000" dirty="0"/>
              <a:t> current usage, expected direction, and respondent characteristics in one view.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67145" y="1521507"/>
            <a:ext cx="7068725" cy="4535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>
                <a:solidFill>
                  <a:schemeClr val="tx1"/>
                </a:solidFill>
              </a:rPr>
              <a:t>Purpose:</a:t>
            </a:r>
            <a:endParaRPr lang="en-GB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Understand technology trends</a:t>
            </a:r>
            <a:r>
              <a:rPr lang="en-GB" sz="2000" dirty="0">
                <a:solidFill>
                  <a:schemeClr val="tx1"/>
                </a:solidFill>
              </a:rPr>
              <a:t> shaping how software developers work now and next.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Link developer profiles to adoption patterns</a:t>
            </a:r>
            <a:r>
              <a:rPr lang="en-GB" sz="2000" dirty="0">
                <a:solidFill>
                  <a:schemeClr val="tx1"/>
                </a:solidFill>
              </a:rPr>
              <a:t> to clarify who uses what, and why.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200" b="1" dirty="0">
                <a:solidFill>
                  <a:schemeClr val="tx1"/>
                </a:solidFill>
              </a:rPr>
              <a:t>Audience:</a:t>
            </a:r>
            <a:endParaRPr lang="en-GB" sz="1400" b="1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Technology decision-makers</a:t>
            </a:r>
            <a:r>
              <a:rPr lang="en-GB" sz="2000" dirty="0">
                <a:solidFill>
                  <a:schemeClr val="tx1"/>
                </a:solidFill>
              </a:rPr>
              <a:t> setting direction and priorities.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Developers and students</a:t>
            </a:r>
            <a:r>
              <a:rPr lang="en-GB" sz="2000" dirty="0">
                <a:solidFill>
                  <a:schemeClr val="tx1"/>
                </a:solidFill>
              </a:rPr>
              <a:t> planning skills and career paths.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Organizations</a:t>
            </a:r>
            <a:r>
              <a:rPr lang="en-GB" sz="2000" dirty="0">
                <a:solidFill>
                  <a:schemeClr val="tx1"/>
                </a:solidFill>
              </a:rPr>
              <a:t> making forward-looking technology investments.</a:t>
            </a:r>
          </a:p>
          <a:p>
            <a:pPr marL="0" indent="0">
              <a:buNone/>
            </a:pPr>
            <a:r>
              <a:rPr lang="en-GB" sz="2200" b="1" dirty="0">
                <a:solidFill>
                  <a:schemeClr val="tx1"/>
                </a:solidFill>
              </a:rPr>
              <a:t>Value:</a:t>
            </a:r>
            <a:endParaRPr lang="en-GB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Clear, data-backed insight</a:t>
            </a:r>
            <a:r>
              <a:rPr lang="en-GB" sz="2000" dirty="0">
                <a:solidFill>
                  <a:schemeClr val="tx1"/>
                </a:solidFill>
              </a:rPr>
              <a:t> into how developer preferences are shifting.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• </a:t>
            </a:r>
            <a:r>
              <a:rPr lang="en-GB" sz="2000" b="1" dirty="0">
                <a:solidFill>
                  <a:schemeClr val="tx1"/>
                </a:solidFill>
              </a:rPr>
              <a:t>Practical guidance</a:t>
            </a:r>
            <a:r>
              <a:rPr lang="en-GB" sz="2000" dirty="0">
                <a:solidFill>
                  <a:schemeClr val="tx1"/>
                </a:solidFill>
              </a:rPr>
              <a:t> for skills planning and technology strategy decisions.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Data Source:</a:t>
            </a:r>
          </a:p>
          <a:p>
            <a:pPr marL="0" indent="0">
              <a:buNone/>
            </a:pPr>
            <a:r>
              <a:rPr lang="en-US" sz="2200" dirty="0"/>
              <a:t>• Stack Overflow Developer Survey dataset (</a:t>
            </a:r>
            <a:r>
              <a:rPr lang="en-US" sz="2200" dirty="0" err="1"/>
              <a:t>survey_data_updated.csv</a:t>
            </a:r>
            <a:r>
              <a:rPr lang="en-US" sz="2200" dirty="0"/>
              <a:t>)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400" b="1" dirty="0"/>
              <a:t>Data Collection: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GB" sz="2400" dirty="0"/>
              <a:t>Global survey of software developers</a:t>
            </a:r>
          </a:p>
          <a:p>
            <a:pPr marL="0" indent="0">
              <a:buNone/>
            </a:pPr>
            <a:r>
              <a:rPr lang="en-US" sz="2200" dirty="0"/>
              <a:t>• Dataset provided as a structured CSV file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400" b="1" dirty="0"/>
              <a:t>Data Preparation: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GB" sz="2400" dirty="0"/>
              <a:t>Multi-choice responses were separated and summarized.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GB" sz="2400" dirty="0"/>
              <a:t>Values split and aggregated using Python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GB" sz="2400" dirty="0"/>
              <a:t>Technology usage counts computed in advance</a:t>
            </a:r>
          </a:p>
          <a:p>
            <a:pPr marL="0" indent="0">
              <a:buNone/>
            </a:pPr>
            <a:r>
              <a:rPr lang="en-US" sz="2200" dirty="0"/>
              <a:t>• </a:t>
            </a:r>
            <a:r>
              <a:rPr lang="en-GB" sz="2400" dirty="0"/>
              <a:t>Aggregated dataset uploaded to IBM Cognos Analytics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4565" y="182683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19175" y="1826829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F7EB03-A069-8BEB-E3C4-EF62D5093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04" y="2351822"/>
            <a:ext cx="5026938" cy="28276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C73071-E3BE-894B-7957-4AA391D76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517" y="2351822"/>
            <a:ext cx="5042079" cy="28276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49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Findings: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sz="2200" b="1" dirty="0"/>
              <a:t>Usage concentrates</a:t>
            </a:r>
            <a:r>
              <a:rPr lang="en-GB" sz="2200" dirty="0"/>
              <a:t> in a small number of languages, which cover most current use and most stated future interest.</a:t>
            </a:r>
          </a:p>
          <a:p>
            <a:r>
              <a:rPr lang="en-GB" sz="2200" b="1" dirty="0"/>
              <a:t>Future demand aligns</a:t>
            </a:r>
            <a:r>
              <a:rPr lang="en-GB" sz="2200" dirty="0"/>
              <a:t> with existing skills, pointing to gradual evolution rather than major shifts.</a:t>
            </a:r>
          </a:p>
          <a:p>
            <a:r>
              <a:rPr lang="en-GB" sz="2200" b="1" dirty="0"/>
              <a:t>Emerging languages attract</a:t>
            </a:r>
            <a:r>
              <a:rPr lang="en-GB" sz="2200" dirty="0"/>
              <a:t> disproportionate interest compared with their current level of use.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Implications: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sz="2200" b="1" dirty="0"/>
              <a:t>Core languages remain</a:t>
            </a:r>
            <a:r>
              <a:rPr lang="en-GB" sz="2200" dirty="0"/>
              <a:t> the main foundation of developer capability.</a:t>
            </a:r>
          </a:p>
          <a:p>
            <a:r>
              <a:rPr lang="en-GB" sz="2200" b="1" dirty="0"/>
              <a:t>Skill updates will be needed</a:t>
            </a:r>
            <a:r>
              <a:rPr lang="en-GB" sz="2200" dirty="0"/>
              <a:t> to keep pace with newer or fast-evolving languages.</a:t>
            </a:r>
          </a:p>
          <a:p>
            <a:r>
              <a:rPr lang="en-GB" sz="2200" b="1" dirty="0"/>
              <a:t>Training can focus</a:t>
            </a:r>
            <a:r>
              <a:rPr lang="en-GB" sz="2200" dirty="0"/>
              <a:t> on widely used languages, with targeted investment in selected emerging ones.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0882-C58B-FC0F-F3E2-08D9CD0F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2E90B76-322D-53E3-4E5B-E98E6316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01B606-2650-29E1-6F47-6B7D56F39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4261" y="182485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5E62171-1473-A79A-C2F9-927A8D028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0163" y="1824858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D81D1-27AE-3742-0B97-F77B4DDDF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16" y="2460967"/>
            <a:ext cx="5089132" cy="2867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5FA32B-B272-B7FF-5DB8-7FB9A6ED9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854" y="2460967"/>
            <a:ext cx="5097742" cy="2867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6112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65125"/>
            <a:ext cx="10539984" cy="1325563"/>
          </a:xfrm>
        </p:spPr>
        <p:txBody>
          <a:bodyPr>
            <a:normAutofit/>
          </a:bodyPr>
          <a:lstStyle/>
          <a:p>
            <a:r>
              <a:rPr lang="en-US" sz="3400" dirty="0"/>
              <a:t>DATABASE TRENDS: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Findings: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sz="2200" b="1" dirty="0"/>
              <a:t>SQL and relational databases remain</a:t>
            </a:r>
            <a:r>
              <a:rPr lang="en-GB" sz="2200" dirty="0"/>
              <a:t> widely used across teams.</a:t>
            </a:r>
          </a:p>
          <a:p>
            <a:r>
              <a:rPr lang="en-GB" sz="2200" b="1" dirty="0"/>
              <a:t>Interest is rising</a:t>
            </a:r>
            <a:r>
              <a:rPr lang="en-GB" sz="2200" dirty="0"/>
              <a:t> in cloud-based, scalable database solutions.</a:t>
            </a:r>
          </a:p>
          <a:p>
            <a:r>
              <a:rPr lang="en-GB" sz="2200" b="1" dirty="0"/>
              <a:t>Developers work across</a:t>
            </a:r>
            <a:r>
              <a:rPr lang="en-GB" sz="2200" dirty="0"/>
              <a:t> both established and newer data platforms.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Implications: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sz="2200" b="1" dirty="0"/>
              <a:t>SQL skills stay</a:t>
            </a:r>
            <a:r>
              <a:rPr lang="en-GB" sz="2200" dirty="0"/>
              <a:t> highly relevant.</a:t>
            </a:r>
          </a:p>
          <a:p>
            <a:r>
              <a:rPr lang="en-GB" sz="2200" b="1" dirty="0"/>
              <a:t>Cloud-native database familiarity is growing</a:t>
            </a:r>
            <a:r>
              <a:rPr lang="en-GB" sz="2200" dirty="0"/>
              <a:t> in importance.</a:t>
            </a:r>
          </a:p>
          <a:p>
            <a:r>
              <a:rPr lang="en-GB" sz="2200" b="1" dirty="0"/>
              <a:t>Platform choices should balance</a:t>
            </a:r>
            <a:r>
              <a:rPr lang="en-GB" sz="2200" dirty="0"/>
              <a:t> operational stability with selective adoption of newer technologies.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DA90-2B34-168C-F67B-08D396882D23}"/>
              </a:ext>
            </a:extLst>
          </p:cNvPr>
          <p:cNvSpPr txBox="1">
            <a:spLocks/>
          </p:cNvSpPr>
          <p:nvPr/>
        </p:nvSpPr>
        <p:spPr>
          <a:xfrm>
            <a:off x="4660754" y="2141537"/>
            <a:ext cx="39893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Dashboard Overview: </a:t>
            </a:r>
            <a:br>
              <a:rPr lang="en-GB" sz="2200" b="1" dirty="0"/>
            </a:br>
            <a:endParaRPr lang="en-GB" sz="2200" b="1" dirty="0"/>
          </a:p>
          <a:p>
            <a:r>
              <a:rPr lang="en-GB" sz="2200" dirty="0"/>
              <a:t>Current Technology Usage</a:t>
            </a:r>
          </a:p>
          <a:p>
            <a:r>
              <a:rPr lang="en-GB" sz="2200" dirty="0"/>
              <a:t>Future Technology Trends</a:t>
            </a:r>
          </a:p>
          <a:p>
            <a:r>
              <a:rPr lang="en-GB" sz="2200" dirty="0"/>
              <a:t>Demographics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DASHBOARD: Current Technology Usage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F9A8FE-FAEC-9F85-BAB5-F8B853F8C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348" y="1407959"/>
            <a:ext cx="8600796" cy="5031465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DASHBOARD: Future Technology Trends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A9ED41-0C67-FA6F-460C-FCFFEA5C4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835" y="1365222"/>
            <a:ext cx="8697357" cy="5087952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DASHBOARD: Demographics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B47283-5F73-90F2-C269-2AACAE03B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383" y="1375006"/>
            <a:ext cx="8849189" cy="50618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13B5-25BF-2117-93F1-D232B82E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8415-F24D-B9DA-3032-F68DEC51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Insights from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6490-BE94-B332-0345-94F4AF6E97E1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altLang="en-NL" sz="2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200" b="1" dirty="0">
                <a:latin typeface="+mn-lt"/>
              </a:rPr>
              <a:t>PostgreSQL and AWS lead</a:t>
            </a:r>
            <a:r>
              <a:rPr lang="en-GB" sz="2200" dirty="0">
                <a:latin typeface="+mn-lt"/>
              </a:rPr>
              <a:t> both current use and future interest, pointing to continuity rather than disruption.</a:t>
            </a:r>
          </a:p>
          <a:p>
            <a:r>
              <a:rPr lang="en-GB" sz="2200" b="1" dirty="0">
                <a:latin typeface="+mn-lt"/>
              </a:rPr>
              <a:t>Web frameworks rotate slightly</a:t>
            </a:r>
            <a:r>
              <a:rPr lang="en-GB" sz="2200" dirty="0">
                <a:latin typeface="+mn-lt"/>
              </a:rPr>
              <a:t>, but preferences remain concentrated in the same leading technologies.</a:t>
            </a:r>
          </a:p>
          <a:p>
            <a:r>
              <a:rPr lang="en-GB" sz="2200" b="1" dirty="0">
                <a:latin typeface="+mn-lt"/>
              </a:rPr>
              <a:t>Future interest mirrors</a:t>
            </a:r>
            <a:r>
              <a:rPr lang="en-GB" sz="2200" dirty="0">
                <a:latin typeface="+mn-lt"/>
              </a:rPr>
              <a:t> current adoption, suggesting gradual change instead of replacement.</a:t>
            </a:r>
          </a:p>
          <a:p>
            <a:r>
              <a:rPr lang="en-GB" sz="2200" b="1" dirty="0">
                <a:latin typeface="+mn-lt"/>
              </a:rPr>
              <a:t>Responses skew</a:t>
            </a:r>
            <a:r>
              <a:rPr lang="en-GB" sz="2200" dirty="0">
                <a:latin typeface="+mn-lt"/>
              </a:rPr>
              <a:t> toward mid-career professionals with Bachelor’s or Master’s degrees, which shapes the overall pattern.</a:t>
            </a:r>
          </a:p>
          <a:p>
            <a:r>
              <a:rPr lang="en-GB" sz="2200" b="1" dirty="0">
                <a:latin typeface="+mn-lt"/>
              </a:rPr>
              <a:t>Geographic input is uneven</a:t>
            </a:r>
            <a:r>
              <a:rPr lang="en-GB" sz="2200" dirty="0">
                <a:latin typeface="+mn-lt"/>
              </a:rPr>
              <a:t>, with the U.S. exerting outsized influence on the trends.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B4186-37F8-C402-714D-0988C19A7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5001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Overall Findings: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sz="2200" b="1" dirty="0"/>
              <a:t>Developer ecosystems balance</a:t>
            </a:r>
            <a:r>
              <a:rPr lang="en-GB" sz="2200" dirty="0"/>
              <a:t> </a:t>
            </a:r>
            <a:r>
              <a:rPr lang="en-GB" sz="2200" b="1" dirty="0"/>
              <a:t>stability</a:t>
            </a:r>
            <a:r>
              <a:rPr lang="en-GB" sz="2200" dirty="0"/>
              <a:t> with gradual change.</a:t>
            </a:r>
          </a:p>
          <a:p>
            <a:r>
              <a:rPr lang="en-GB" sz="2200" b="1" dirty="0"/>
              <a:t>Core technologies stay dominant</a:t>
            </a:r>
            <a:r>
              <a:rPr lang="en-GB" sz="2200" dirty="0"/>
              <a:t>, while new tools gain adoption slowly.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Broader Implications: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sz="2200" b="1" dirty="0"/>
              <a:t>Developers should build</a:t>
            </a:r>
            <a:r>
              <a:rPr lang="en-GB" sz="2200" dirty="0"/>
              <a:t> strong fundamentals while keeping an eye on emerging trends.</a:t>
            </a:r>
          </a:p>
          <a:p>
            <a:r>
              <a:rPr lang="en-GB" sz="2200" b="1" dirty="0"/>
              <a:t>Organizations can use</a:t>
            </a:r>
            <a:r>
              <a:rPr lang="en-GB" sz="2200" dirty="0"/>
              <a:t> survey results to guide hiring and training choices.</a:t>
            </a:r>
          </a:p>
          <a:p>
            <a:r>
              <a:rPr lang="en-GB" sz="2200" b="1" dirty="0"/>
              <a:t>Data-based insights support</a:t>
            </a:r>
            <a:r>
              <a:rPr lang="en-GB" sz="2200" dirty="0"/>
              <a:t> more informed long-term technology planning.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The analysis highlights</a:t>
            </a:r>
            <a:r>
              <a:rPr lang="en-GB" dirty="0"/>
              <a:t> key patterns in programming languages and databases.</a:t>
            </a:r>
          </a:p>
          <a:p>
            <a:r>
              <a:rPr lang="en-GB" b="1" dirty="0"/>
              <a:t>Dashboards enable</a:t>
            </a:r>
            <a:r>
              <a:rPr lang="en-GB" dirty="0"/>
              <a:t> clear exploration of current and future technology use.</a:t>
            </a:r>
          </a:p>
          <a:p>
            <a:r>
              <a:rPr lang="en-GB" b="1" dirty="0"/>
              <a:t>Demographic context adds</a:t>
            </a:r>
            <a:r>
              <a:rPr lang="en-GB" dirty="0"/>
              <a:t> meaning to the observed technology trends.</a:t>
            </a:r>
          </a:p>
          <a:p>
            <a:r>
              <a:rPr lang="en-GB" b="1" dirty="0"/>
              <a:t>Overall, the findings support</a:t>
            </a:r>
            <a:r>
              <a:rPr lang="en-GB" dirty="0"/>
              <a:t> more informed decision-making in the technology sector.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350</TotalTime>
  <Words>673</Words>
  <Application>Microsoft Macintosh PowerPoint</Application>
  <PresentationFormat>Widescreen</PresentationFormat>
  <Paragraphs>99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Helv</vt:lpstr>
      <vt:lpstr>IBM Plex Sans</vt:lpstr>
      <vt:lpstr>IBM Plex Sans SemiBold</vt:lpstr>
      <vt:lpstr>SLIDE_TEMPLATE_skill_network</vt:lpstr>
      <vt:lpstr>Technology Trends and Developer Demographics Analysis 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TRENDS: FINDINGS &amp; IMPLICATIONS</vt:lpstr>
      <vt:lpstr>DASHBOARDS</vt:lpstr>
      <vt:lpstr>DASHBOARD: Current Technology Usage</vt:lpstr>
      <vt:lpstr>DASHBOARD: Future Technology Trends</vt:lpstr>
      <vt:lpstr>DASHBOARD: Demographics</vt:lpstr>
      <vt:lpstr>Insights from Dashboard</vt:lpstr>
      <vt:lpstr>Overall Findings &amp;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Joost K</cp:lastModifiedBy>
  <cp:revision>6</cp:revision>
  <dcterms:created xsi:type="dcterms:W3CDTF">2024-10-30T05:40:03Z</dcterms:created>
  <dcterms:modified xsi:type="dcterms:W3CDTF">2026-02-03T10:00:17Z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